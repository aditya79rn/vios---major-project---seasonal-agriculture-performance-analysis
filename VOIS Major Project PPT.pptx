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5033" autoAdjust="0"/>
  </p:normalViewPr>
  <p:slideViewPr>
    <p:cSldViewPr snapToGrid="0">
      <p:cViewPr varScale="1">
        <p:scale>
          <a:sx n="82" d="100"/>
          <a:sy n="82" d="100"/>
        </p:scale>
        <p:origin x="72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2998251"/>
            <a:ext cx="7251286" cy="1062589"/>
          </a:xfrm>
        </p:spPr>
        <p:txBody>
          <a:bodyPr vert="horz" lIns="91440" tIns="45720" rIns="91440" bIns="45720" rtlCol="0" anchor="t">
            <a:noAutofit/>
          </a:bodyPr>
          <a:lstStyle/>
          <a:p>
            <a:r>
              <a:rPr lang="en-US" b="0" dirty="0">
                <a:solidFill>
                  <a:schemeClr val="tx1"/>
                </a:solidFill>
                <a:latin typeface="Times New Roman" panose="02020603050405020304" pitchFamily="18" charset="0"/>
                <a:cs typeface="Times New Roman" panose="02020603050405020304" pitchFamily="18" charset="0"/>
              </a:rPr>
              <a:t>Student Name :NAG ADITYA REDBOINA </a:t>
            </a:r>
            <a:endParaRPr lang="en-IN" b="0" dirty="0">
              <a:solidFill>
                <a:schemeClr val="tx1"/>
              </a:solidFill>
              <a:latin typeface="Times New Roman" panose="02020603050405020304" pitchFamily="18" charset="0"/>
              <a:cs typeface="Times New Roman" panose="02020603050405020304" pitchFamily="18" charset="0"/>
            </a:endParaRPr>
          </a:p>
          <a:p>
            <a:r>
              <a:rPr lang="en-US" b="0" dirty="0">
                <a:solidFill>
                  <a:schemeClr val="tx1"/>
                </a:solidFill>
                <a:latin typeface="Times New Roman" panose="02020603050405020304" pitchFamily="18" charset="0"/>
                <a:cs typeface="Times New Roman" panose="02020603050405020304" pitchFamily="18" charset="0"/>
              </a:rPr>
              <a:t>College Name- Koneru Lakshmaiah Education Foundation (KL </a:t>
            </a:r>
            <a:r>
              <a:rPr lang="en-IN" b="0" dirty="0">
                <a:solidFill>
                  <a:schemeClr val="tx1"/>
                </a:solidFill>
                <a:latin typeface="Times New Roman" panose="02020603050405020304" pitchFamily="18" charset="0"/>
                <a:cs typeface="Times New Roman" panose="02020603050405020304" pitchFamily="18" charset="0"/>
              </a:rPr>
              <a:t>University</a:t>
            </a:r>
            <a:r>
              <a:rPr lang="en-US" b="0" dirty="0">
                <a:solidFill>
                  <a:schemeClr val="tx1"/>
                </a:solidFill>
                <a:latin typeface="Times New Roman" panose="02020603050405020304" pitchFamily="18" charset="0"/>
                <a:cs typeface="Times New Roman" panose="02020603050405020304" pitchFamily="18" charset="0"/>
              </a:rPr>
              <a:t>) </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29490" y="1055201"/>
            <a:ext cx="10585906" cy="1333458"/>
          </a:xfrm>
        </p:spPr>
        <p:txBody>
          <a:bodyPr>
            <a:noAutofit/>
          </a:bodyPr>
          <a:lstStyle/>
          <a:p>
            <a:r>
              <a:rPr lang="en-GB" sz="4000" dirty="0">
                <a:latin typeface="Times New Roman" panose="02020603050405020304" pitchFamily="18" charset="0"/>
                <a:cs typeface="Times New Roman" panose="02020603050405020304" pitchFamily="18" charset="0"/>
              </a:rPr>
              <a:t>Project Title - </a:t>
            </a:r>
            <a:r>
              <a:rPr lang="en-IN" sz="4000" dirty="0">
                <a:latin typeface="Times New Roman" panose="02020603050405020304" pitchFamily="18" charset="0"/>
                <a:cs typeface="Times New Roman" panose="02020603050405020304" pitchFamily="18" charset="0"/>
              </a:rPr>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265090"/>
            <a:ext cx="3746754"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AICTE STU ID: </a:t>
            </a:r>
            <a:r>
              <a:rPr lang="en-IN" sz="2000" dirty="0">
                <a:latin typeface="Times New Roman" panose="02020603050405020304" pitchFamily="18" charset="0"/>
                <a:cs typeface="Times New Roman" panose="02020603050405020304" pitchFamily="18" charset="0"/>
              </a:rPr>
              <a:t>STU6633423b4b75c1714635323 </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872890"/>
            <a:ext cx="8230778" cy="4066667"/>
          </a:xfrm>
        </p:spPr>
        <p:txBody>
          <a:bodyPr vert="horz" lIns="91440" tIns="45720" rIns="91440" bIns="45720" rtlCol="0" anchor="t">
            <a:normAutofit/>
          </a:bodyPr>
          <a:lstStyle/>
          <a:p>
            <a:pPr algn="just">
              <a:lnSpc>
                <a:spcPct val="120000"/>
              </a:lnSpc>
            </a:pPr>
            <a:r>
              <a:rPr lang="en-IN" dirty="0">
                <a:latin typeface="Times New Roman" panose="02020603050405020304" pitchFamily="18" charset="0"/>
                <a:ea typeface="Tahoma" panose="020B0604030504040204" pitchFamily="34"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dirty="0" err="1">
                <a:latin typeface="Times New Roman" panose="02020603050405020304" pitchFamily="18" charset="0"/>
                <a:ea typeface="Tahoma" panose="020B0604030504040204" pitchFamily="34" charset="0"/>
                <a:cs typeface="Times New Roman" panose="02020603050405020304" pitchFamily="18" charset="0"/>
              </a:rPr>
              <a:t>analyze</a:t>
            </a:r>
            <a:r>
              <a:rPr lang="en-IN" dirty="0">
                <a:latin typeface="Times New Roman" panose="02020603050405020304" pitchFamily="18" charset="0"/>
                <a:ea typeface="Tahoma" panose="020B0604030504040204" pitchFamily="34"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48432" y="479968"/>
            <a:ext cx="6276109" cy="830997"/>
          </a:xfrm>
        </p:spPr>
        <p:txBody>
          <a:bodyPr>
            <a:noAutofit/>
          </a:bodyPr>
          <a:lstStyle/>
          <a:p>
            <a:r>
              <a:rPr lang="en-GB" sz="4000" dirty="0">
                <a:latin typeface="Times New Roman" panose="02020603050405020304" pitchFamily="18" charset="0"/>
                <a:cs typeface="Times New Roman" panose="02020603050405020304" pitchFamily="18" charset="0"/>
              </a:rPr>
              <a:t>Project Description</a:t>
            </a:r>
            <a:br>
              <a:rPr lang="en-GB" sz="4000" dirty="0">
                <a:latin typeface="Times New Roman" panose="02020603050405020304" pitchFamily="18" charset="0"/>
                <a:cs typeface="Times New Roman" panose="02020603050405020304" pitchFamily="18" charset="0"/>
              </a:rPr>
            </a:br>
            <a:r>
              <a:rPr lang="en-GB" sz="4000" dirty="0">
                <a:latin typeface="Times New Roman" panose="02020603050405020304" pitchFamily="18" charset="0"/>
                <a:cs typeface="Times New Roman" panose="02020603050405020304" pitchFamily="18" charset="0"/>
              </a:rPr>
              <a:t> </a:t>
            </a:r>
            <a:br>
              <a:rPr lang="en-GB"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FA86AAF7-AB11-AFF4-AA77-57DCD9A9D7B6}"/>
              </a:ext>
            </a:extLst>
          </p:cNvPr>
          <p:cNvSpPr txBox="1"/>
          <p:nvPr/>
        </p:nvSpPr>
        <p:spPr>
          <a:xfrm>
            <a:off x="467359" y="1382018"/>
            <a:ext cx="10381862" cy="5324535"/>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Seasonal Agriculture Performance Analysis is a data analytics project that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agricultural activities across different seasons, geographical regions, crops, farming practices, environmental conditions, resource usage, and economic outcomes. The project aims to identify meaningful seasonal patterns, trends, relationships, and variations in agricultural performance.</a:t>
            </a:r>
          </a:p>
          <a:p>
            <a:pPr algn="just"/>
            <a:r>
              <a:rPr lang="en-IN" sz="2000" dirty="0">
                <a:latin typeface="Times New Roman" panose="02020603050405020304" pitchFamily="18" charset="0"/>
                <a:cs typeface="Times New Roman" panose="02020603050405020304" pitchFamily="18" charset="0"/>
              </a:rPr>
              <a:t>The analysis involves exploring and cleaning the agricultural dataset, comparing crop yield and profitability across Kharif, Rabi, and Zaid seasons, and examining differences across crops, states, districts, and irrigation methods. Environmental factors such as rainfall, temperature, humidity, and soil moisture, along with resource usage and irrigation practices, are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understand their relationship with agricultural outcomes.</a:t>
            </a:r>
          </a:p>
          <a:p>
            <a:pPr algn="just"/>
            <a:r>
              <a:rPr lang="en-IN" sz="2000" dirty="0">
                <a:latin typeface="Times New Roman" panose="02020603050405020304" pitchFamily="18" charset="0"/>
                <a:cs typeface="Times New Roman" panose="02020603050405020304" pitchFamily="18" charset="0"/>
              </a:rPr>
              <a:t>Various Python data analysis, statistical, and visualization techniques are used to present the findings clearly. The project concludes with evidence-based insights and recommendations that can support better seasonal agricultural planning, resource management, and identification of areas requiring further investigation.</a:t>
            </a:r>
          </a:p>
          <a:p>
            <a:pPr algn="just"/>
            <a:r>
              <a:rPr lang="en-IN" sz="2000" dirty="0">
                <a:latin typeface="Times New Roman" panose="02020603050405020304" pitchFamily="18" charset="0"/>
                <a:cs typeface="Times New Roman" panose="02020603050405020304" pitchFamily="18" charset="0"/>
              </a:rPr>
              <a:t>This project provides practical experience in data cleaning, exploratory data analysis (EDA), statistical analysis, data visualization, interpretation of results, and data-driven decision-making using Python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433988"/>
            <a:ext cx="7904481" cy="3990023"/>
          </a:xfrm>
        </p:spPr>
        <p:txBody>
          <a:bodyPr>
            <a:normAutofit fontScale="55000" lnSpcReduction="20000"/>
          </a:bodyPr>
          <a:lstStyle/>
          <a:p>
            <a:pPr lvl="0" algn="just"/>
            <a:r>
              <a:rPr lang="en-IN" sz="3600" b="1" dirty="0">
                <a:latin typeface="Times New Roman" panose="02020603050405020304" pitchFamily="18" charset="0"/>
                <a:cs typeface="Times New Roman" panose="02020603050405020304" pitchFamily="18" charset="0"/>
              </a:rPr>
              <a:t>Farmers</a:t>
            </a:r>
            <a:r>
              <a:rPr lang="en-IN" sz="3600" dirty="0">
                <a:latin typeface="Times New Roman" panose="02020603050405020304" pitchFamily="18" charset="0"/>
                <a:cs typeface="Times New Roman" panose="02020603050405020304" pitchFamily="18" charset="0"/>
              </a:rPr>
              <a:t> – To understand seasonal crop performance, yield, resource usage, and profitability. </a:t>
            </a:r>
          </a:p>
          <a:p>
            <a:pPr lvl="0" algn="just"/>
            <a:r>
              <a:rPr lang="en-IN" sz="3600" b="1" dirty="0">
                <a:latin typeface="Times New Roman" panose="02020603050405020304" pitchFamily="18" charset="0"/>
                <a:cs typeface="Times New Roman" panose="02020603050405020304" pitchFamily="18" charset="0"/>
              </a:rPr>
              <a:t>Agricultural Planners</a:t>
            </a:r>
            <a:r>
              <a:rPr lang="en-IN" sz="3600" dirty="0">
                <a:latin typeface="Times New Roman" panose="02020603050405020304" pitchFamily="18" charset="0"/>
                <a:cs typeface="Times New Roman" panose="02020603050405020304" pitchFamily="18" charset="0"/>
              </a:rPr>
              <a:t> – To support better seasonal crop and resource planning. </a:t>
            </a:r>
          </a:p>
          <a:p>
            <a:pPr lvl="0" algn="just"/>
            <a:r>
              <a:rPr lang="en-IN" sz="3600" b="1" dirty="0">
                <a:latin typeface="Times New Roman" panose="02020603050405020304" pitchFamily="18" charset="0"/>
                <a:cs typeface="Times New Roman" panose="02020603050405020304" pitchFamily="18" charset="0"/>
              </a:rPr>
              <a:t>Agricultural Departments &amp; Government Agencies</a:t>
            </a:r>
            <a:r>
              <a:rPr lang="en-IN" sz="3600" dirty="0">
                <a:latin typeface="Times New Roman" panose="02020603050405020304" pitchFamily="18" charset="0"/>
                <a:cs typeface="Times New Roman" panose="02020603050405020304" pitchFamily="18" charset="0"/>
              </a:rPr>
              <a:t> – To identify regional and seasonal patterns for evidence-based planning. </a:t>
            </a:r>
          </a:p>
          <a:p>
            <a:pPr lvl="0" algn="just"/>
            <a:r>
              <a:rPr lang="en-IN" sz="3600" b="1" dirty="0">
                <a:latin typeface="Times New Roman" panose="02020603050405020304" pitchFamily="18" charset="0"/>
                <a:cs typeface="Times New Roman" panose="02020603050405020304" pitchFamily="18" charset="0"/>
              </a:rPr>
              <a:t>Agricultural Consultants</a:t>
            </a:r>
            <a:r>
              <a:rPr lang="en-IN" sz="3600" dirty="0">
                <a:latin typeface="Times New Roman" panose="02020603050405020304" pitchFamily="18" charset="0"/>
                <a:cs typeface="Times New Roman" panose="02020603050405020304" pitchFamily="18" charset="0"/>
              </a:rPr>
              <a:t> – To provide data-driven recommendations on crops, irrigation, and farming practices. </a:t>
            </a:r>
          </a:p>
          <a:p>
            <a:pPr lvl="0" algn="just"/>
            <a:r>
              <a:rPr lang="en-IN" sz="3600" b="1" dirty="0">
                <a:latin typeface="Times New Roman" panose="02020603050405020304" pitchFamily="18" charset="0"/>
                <a:cs typeface="Times New Roman" panose="02020603050405020304" pitchFamily="18" charset="0"/>
              </a:rPr>
              <a:t>Researchers &amp; Data Analysts</a:t>
            </a:r>
            <a:r>
              <a:rPr lang="en-IN" sz="3600" dirty="0">
                <a:latin typeface="Times New Roman" panose="02020603050405020304" pitchFamily="18" charset="0"/>
                <a:cs typeface="Times New Roman" panose="02020603050405020304" pitchFamily="18" charset="0"/>
              </a:rPr>
              <a:t> – To study relationships between environmental conditions and agricultural outcomes. </a:t>
            </a:r>
          </a:p>
          <a:p>
            <a:pPr lvl="0" algn="just"/>
            <a:r>
              <a:rPr lang="en-IN" sz="3600" b="1" dirty="0">
                <a:latin typeface="Times New Roman" panose="02020603050405020304" pitchFamily="18" charset="0"/>
                <a:cs typeface="Times New Roman" panose="02020603050405020304" pitchFamily="18" charset="0"/>
              </a:rPr>
              <a:t>Agribusiness &amp; Supply Chain Stakeholders</a:t>
            </a:r>
            <a:r>
              <a:rPr lang="en-IN" sz="3600" dirty="0">
                <a:latin typeface="Times New Roman" panose="02020603050405020304" pitchFamily="18" charset="0"/>
                <a:cs typeface="Times New Roman" panose="02020603050405020304" pitchFamily="18" charset="0"/>
              </a:rPr>
              <a:t> – To understand crop production and economic performance across seasons and regions.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354103"/>
            <a:ext cx="10046070" cy="802641"/>
          </a:xfrm>
        </p:spPr>
        <p:txBody>
          <a:bodyPr>
            <a:normAutofit/>
          </a:bodyPr>
          <a:lstStyle/>
          <a:p>
            <a:r>
              <a:rPr lang="en-US" sz="4000" dirty="0">
                <a:latin typeface="Times New Roman" panose="02020603050405020304" pitchFamily="18" charset="0"/>
                <a:cs typeface="Times New Roman" panose="02020603050405020304" pitchFamily="18" charset="0"/>
              </a:rPr>
              <a:t>WHO ARE THE END USERS?</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315059"/>
            <a:ext cx="9027702" cy="5243448"/>
          </a:xfrm>
        </p:spPr>
        <p:txBody>
          <a:bodyPr/>
          <a:lstStyle/>
          <a:p>
            <a:pPr lvl="0"/>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 Core programming language for data analysis. </a:t>
            </a:r>
          </a:p>
          <a:p>
            <a:pPr lvl="0"/>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cleaning, manipulation, and analysis. </a:t>
            </a:r>
          </a:p>
          <a:p>
            <a:pPr lvl="0"/>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Numerical computations and data processing. </a:t>
            </a:r>
          </a:p>
          <a:p>
            <a:pPr lvl="0"/>
            <a:r>
              <a:rPr lang="en-IN" b="1" dirty="0">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Creating charts and visualizations. </a:t>
            </a:r>
          </a:p>
          <a:p>
            <a:pPr lvl="0"/>
            <a:r>
              <a:rPr lang="en-IN" b="1" dirty="0">
                <a:latin typeface="Times New Roman" panose="02020603050405020304" pitchFamily="18" charset="0"/>
                <a:cs typeface="Times New Roman" panose="02020603050405020304" pitchFamily="18" charset="0"/>
              </a:rPr>
              <a:t>SciPy</a:t>
            </a:r>
            <a:r>
              <a:rPr lang="en-IN" dirty="0">
                <a:latin typeface="Times New Roman" panose="02020603050405020304" pitchFamily="18" charset="0"/>
                <a:cs typeface="Times New Roman" panose="02020603050405020304" pitchFamily="18" charset="0"/>
              </a:rPr>
              <a:t> – Statistical analysis and hypothesis testing. </a:t>
            </a:r>
          </a:p>
          <a:p>
            <a:pPr lvl="0"/>
            <a:r>
              <a:rPr lang="en-IN" b="1" dirty="0">
                <a:latin typeface="Times New Roman" panose="02020603050405020304" pitchFamily="18" charset="0"/>
                <a:cs typeface="Times New Roman" panose="02020603050405020304" pitchFamily="18" charset="0"/>
              </a:rPr>
              <a:t>Google </a:t>
            </a:r>
            <a:r>
              <a:rPr lang="en-IN" b="1"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 Cloud-based environment for developing and running the project.</a:t>
            </a:r>
          </a:p>
          <a:p>
            <a:pPr lvl="1">
              <a:lnSpc>
                <a:spcPct val="150000"/>
              </a:lnSpc>
            </a:pPr>
            <a:endParaRPr lang="en-IN"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40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6F943A8-72BF-FFF5-081B-A37FE2645220}"/>
              </a:ext>
            </a:extLst>
          </p:cNvPr>
          <p:cNvPicPr>
            <a:picLocks noChangeAspect="1"/>
          </p:cNvPicPr>
          <p:nvPr/>
        </p:nvPicPr>
        <p:blipFill>
          <a:blip r:embed="rId3"/>
          <a:stretch>
            <a:fillRect/>
          </a:stretch>
        </p:blipFill>
        <p:spPr>
          <a:xfrm>
            <a:off x="442692" y="1392623"/>
            <a:ext cx="5380555" cy="3729884"/>
          </a:xfrm>
          <a:prstGeom prst="rect">
            <a:avLst/>
          </a:prstGeom>
        </p:spPr>
      </p:pic>
      <p:pic>
        <p:nvPicPr>
          <p:cNvPr id="9" name="Picture 8">
            <a:extLst>
              <a:ext uri="{FF2B5EF4-FFF2-40B4-BE49-F238E27FC236}">
                <a16:creationId xmlns:a16="http://schemas.microsoft.com/office/drawing/2014/main" id="{CBDFBE19-6530-9A0C-C17E-561CE2541502}"/>
              </a:ext>
            </a:extLst>
          </p:cNvPr>
          <p:cNvPicPr>
            <a:picLocks noChangeAspect="1"/>
          </p:cNvPicPr>
          <p:nvPr/>
        </p:nvPicPr>
        <p:blipFill>
          <a:blip r:embed="rId4"/>
          <a:stretch>
            <a:fillRect/>
          </a:stretch>
        </p:blipFill>
        <p:spPr>
          <a:xfrm>
            <a:off x="6664094" y="1606977"/>
            <a:ext cx="5206924" cy="338018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B11802C-F746-6DD5-DC29-3EEB390D6D8F}"/>
              </a:ext>
            </a:extLst>
          </p:cNvPr>
          <p:cNvPicPr>
            <a:picLocks noChangeAspect="1"/>
          </p:cNvPicPr>
          <p:nvPr/>
        </p:nvPicPr>
        <p:blipFill>
          <a:blip r:embed="rId3"/>
          <a:stretch>
            <a:fillRect/>
          </a:stretch>
        </p:blipFill>
        <p:spPr>
          <a:xfrm>
            <a:off x="429575" y="1573132"/>
            <a:ext cx="5008016" cy="3343420"/>
          </a:xfrm>
          <a:prstGeom prst="rect">
            <a:avLst/>
          </a:prstGeom>
        </p:spPr>
      </p:pic>
      <p:pic>
        <p:nvPicPr>
          <p:cNvPr id="9" name="Picture 8">
            <a:extLst>
              <a:ext uri="{FF2B5EF4-FFF2-40B4-BE49-F238E27FC236}">
                <a16:creationId xmlns:a16="http://schemas.microsoft.com/office/drawing/2014/main" id="{C2622D10-4C34-113A-6FB1-CAD5E7C2EF14}"/>
              </a:ext>
            </a:extLst>
          </p:cNvPr>
          <p:cNvPicPr>
            <a:picLocks noChangeAspect="1"/>
          </p:cNvPicPr>
          <p:nvPr/>
        </p:nvPicPr>
        <p:blipFill>
          <a:blip r:embed="rId3"/>
          <a:stretch>
            <a:fillRect/>
          </a:stretch>
        </p:blipFill>
        <p:spPr>
          <a:xfrm>
            <a:off x="6641556" y="1573133"/>
            <a:ext cx="5008016" cy="334342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CECB2A5-B2DD-6A2B-122E-AD53277CB445}"/>
              </a:ext>
            </a:extLst>
          </p:cNvPr>
          <p:cNvPicPr>
            <a:picLocks noChangeAspect="1"/>
          </p:cNvPicPr>
          <p:nvPr/>
        </p:nvPicPr>
        <p:blipFill>
          <a:blip r:embed="rId3"/>
          <a:stretch>
            <a:fillRect/>
          </a:stretch>
        </p:blipFill>
        <p:spPr>
          <a:xfrm>
            <a:off x="575193" y="1406859"/>
            <a:ext cx="5520807" cy="3362897"/>
          </a:xfrm>
          <a:prstGeom prst="rect">
            <a:avLst/>
          </a:prstGeom>
        </p:spPr>
      </p:pic>
      <p:pic>
        <p:nvPicPr>
          <p:cNvPr id="9" name="Picture 8">
            <a:extLst>
              <a:ext uri="{FF2B5EF4-FFF2-40B4-BE49-F238E27FC236}">
                <a16:creationId xmlns:a16="http://schemas.microsoft.com/office/drawing/2014/main" id="{7B3CDA35-9590-E284-8F33-984CA82DE1B8}"/>
              </a:ext>
            </a:extLst>
          </p:cNvPr>
          <p:cNvPicPr>
            <a:picLocks noChangeAspect="1"/>
          </p:cNvPicPr>
          <p:nvPr/>
        </p:nvPicPr>
        <p:blipFill>
          <a:blip r:embed="rId4"/>
          <a:stretch>
            <a:fillRect/>
          </a:stretch>
        </p:blipFill>
        <p:spPr>
          <a:xfrm>
            <a:off x="6703346" y="1600561"/>
            <a:ext cx="5167672" cy="297549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9961A3D-3226-EFEF-30BD-F0C9F285A8F9}"/>
              </a:ext>
            </a:extLst>
          </p:cNvPr>
          <p:cNvPicPr>
            <a:picLocks noChangeAspect="1"/>
          </p:cNvPicPr>
          <p:nvPr/>
        </p:nvPicPr>
        <p:blipFill>
          <a:blip r:embed="rId3"/>
          <a:stretch>
            <a:fillRect/>
          </a:stretch>
        </p:blipFill>
        <p:spPr>
          <a:xfrm>
            <a:off x="237007" y="1201586"/>
            <a:ext cx="6266481" cy="3693688"/>
          </a:xfrm>
          <a:prstGeom prst="rect">
            <a:avLst/>
          </a:prstGeom>
        </p:spPr>
      </p:pic>
      <p:pic>
        <p:nvPicPr>
          <p:cNvPr id="9" name="Picture 8">
            <a:extLst>
              <a:ext uri="{FF2B5EF4-FFF2-40B4-BE49-F238E27FC236}">
                <a16:creationId xmlns:a16="http://schemas.microsoft.com/office/drawing/2014/main" id="{FCA9D175-5FA5-70DE-2843-E345B89EC936}"/>
              </a:ext>
            </a:extLst>
          </p:cNvPr>
          <p:cNvPicPr>
            <a:picLocks noChangeAspect="1"/>
          </p:cNvPicPr>
          <p:nvPr/>
        </p:nvPicPr>
        <p:blipFill>
          <a:blip r:embed="rId4"/>
          <a:stretch>
            <a:fillRect/>
          </a:stretch>
        </p:blipFill>
        <p:spPr>
          <a:xfrm>
            <a:off x="6768051" y="1275371"/>
            <a:ext cx="5186942" cy="350771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24C83D9-801D-3E1C-B69A-46EF8AFF3DE0}"/>
              </a:ext>
            </a:extLst>
          </p:cNvPr>
          <p:cNvPicPr>
            <a:picLocks noChangeAspect="1"/>
          </p:cNvPicPr>
          <p:nvPr/>
        </p:nvPicPr>
        <p:blipFill>
          <a:blip r:embed="rId3"/>
          <a:stretch>
            <a:fillRect/>
          </a:stretch>
        </p:blipFill>
        <p:spPr>
          <a:xfrm>
            <a:off x="421683" y="1371602"/>
            <a:ext cx="5242000" cy="3544950"/>
          </a:xfrm>
          <a:prstGeom prst="rect">
            <a:avLst/>
          </a:prstGeom>
        </p:spPr>
      </p:pic>
      <p:pic>
        <p:nvPicPr>
          <p:cNvPr id="9" name="Picture 8">
            <a:extLst>
              <a:ext uri="{FF2B5EF4-FFF2-40B4-BE49-F238E27FC236}">
                <a16:creationId xmlns:a16="http://schemas.microsoft.com/office/drawing/2014/main" id="{FA33EFAB-BDF7-A218-498F-5C5499AC9041}"/>
              </a:ext>
            </a:extLst>
          </p:cNvPr>
          <p:cNvPicPr>
            <a:picLocks noChangeAspect="1"/>
          </p:cNvPicPr>
          <p:nvPr/>
        </p:nvPicPr>
        <p:blipFill>
          <a:blip r:embed="rId4"/>
          <a:stretch>
            <a:fillRect/>
          </a:stretch>
        </p:blipFill>
        <p:spPr>
          <a:xfrm>
            <a:off x="6344834" y="1371602"/>
            <a:ext cx="5242000" cy="354495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8782521-6848-036C-8052-5B08CD7CA0BC}"/>
              </a:ext>
            </a:extLst>
          </p:cNvPr>
          <p:cNvSpPr txBox="1"/>
          <p:nvPr/>
        </p:nvSpPr>
        <p:spPr>
          <a:xfrm>
            <a:off x="774441" y="1201586"/>
            <a:ext cx="9909110" cy="4678204"/>
          </a:xfrm>
          <a:prstGeom prst="rect">
            <a:avLst/>
          </a:prstGeom>
          <a:noFill/>
        </p:spPr>
        <p:txBody>
          <a:bodyPr wrap="square" rtlCol="0">
            <a:spAutoFit/>
          </a:bodyPr>
          <a:lstStyle/>
          <a:p>
            <a:pPr lvl="0" algn="just"/>
            <a:r>
              <a:rPr lang="en-IN" sz="2000" b="1" dirty="0">
                <a:latin typeface="Times New Roman" panose="02020603050405020304" pitchFamily="18" charset="0"/>
                <a:cs typeface="Times New Roman" panose="02020603050405020304" pitchFamily="18" charset="0"/>
              </a:rPr>
              <a:t>Predictive Analysis</a:t>
            </a:r>
            <a:r>
              <a:rPr lang="en-IN" sz="2000" dirty="0">
                <a:latin typeface="Times New Roman" panose="02020603050405020304" pitchFamily="18" charset="0"/>
                <a:cs typeface="Times New Roman" panose="02020603050405020304" pitchFamily="18" charset="0"/>
              </a:rPr>
              <a:t> – Develop machine learning models to predict crop yield and profitability for different seasons. </a:t>
            </a:r>
          </a:p>
          <a:p>
            <a:pPr lvl="0" algn="just"/>
            <a:r>
              <a:rPr lang="en-IN" sz="2000" b="1" dirty="0">
                <a:latin typeface="Times New Roman" panose="02020603050405020304" pitchFamily="18" charset="0"/>
                <a:cs typeface="Times New Roman" panose="02020603050405020304" pitchFamily="18" charset="0"/>
              </a:rPr>
              <a:t>Weather Forecast Integration</a:t>
            </a:r>
            <a:r>
              <a:rPr lang="en-IN" sz="2000" dirty="0">
                <a:latin typeface="Times New Roman" panose="02020603050405020304" pitchFamily="18" charset="0"/>
                <a:cs typeface="Times New Roman" panose="02020603050405020304" pitchFamily="18" charset="0"/>
              </a:rPr>
              <a:t> – Incorporate real-time and historical weather data to improve seasonal predictions. </a:t>
            </a:r>
          </a:p>
          <a:p>
            <a:pPr lvl="0" algn="just"/>
            <a:r>
              <a:rPr lang="en-IN" sz="2000" b="1" dirty="0">
                <a:latin typeface="Times New Roman" panose="02020603050405020304" pitchFamily="18" charset="0"/>
                <a:cs typeface="Times New Roman" panose="02020603050405020304" pitchFamily="18" charset="0"/>
              </a:rPr>
              <a:t>Crop Recommendation System</a:t>
            </a:r>
            <a:r>
              <a:rPr lang="en-IN" sz="2000" dirty="0">
                <a:latin typeface="Times New Roman" panose="02020603050405020304" pitchFamily="18" charset="0"/>
                <a:cs typeface="Times New Roman" panose="02020603050405020304" pitchFamily="18" charset="0"/>
              </a:rPr>
              <a:t> – Recommend suitable crops based on season, soil conditions, rainfall, and expected profitability. </a:t>
            </a:r>
          </a:p>
          <a:p>
            <a:pPr lvl="0" algn="just"/>
            <a:r>
              <a:rPr lang="en-IN" sz="2000" b="1" dirty="0">
                <a:latin typeface="Times New Roman" panose="02020603050405020304" pitchFamily="18" charset="0"/>
                <a:cs typeface="Times New Roman" panose="02020603050405020304" pitchFamily="18" charset="0"/>
              </a:rPr>
              <a:t>Smart Irrigation</a:t>
            </a:r>
            <a:r>
              <a:rPr lang="en-IN" sz="2000" dirty="0">
                <a:latin typeface="Times New Roman" panose="02020603050405020304" pitchFamily="18" charset="0"/>
                <a:cs typeface="Times New Roman" panose="02020603050405020304" pitchFamily="18" charset="0"/>
              </a:rPr>
              <a:t> – Develop data-driven irrigation recommendations to improve water efficiency. </a:t>
            </a:r>
          </a:p>
          <a:p>
            <a:pPr lvl="0" algn="just"/>
            <a:r>
              <a:rPr lang="en-IN" sz="2000" b="1" dirty="0">
                <a:latin typeface="Times New Roman" panose="02020603050405020304" pitchFamily="18" charset="0"/>
                <a:cs typeface="Times New Roman" panose="02020603050405020304" pitchFamily="18" charset="0"/>
              </a:rPr>
              <a:t>Real-Time Monitoring</a:t>
            </a:r>
            <a:r>
              <a:rPr lang="en-IN" sz="2000" dirty="0">
                <a:latin typeface="Times New Roman" panose="02020603050405020304" pitchFamily="18" charset="0"/>
                <a:cs typeface="Times New Roman" panose="02020603050405020304" pitchFamily="18" charset="0"/>
              </a:rPr>
              <a:t> – Integrate IoT sensors for monitoring soil moisture, temperature, and other field conditions. </a:t>
            </a:r>
          </a:p>
          <a:p>
            <a:pPr lvl="0" algn="just"/>
            <a:r>
              <a:rPr lang="en-IN" sz="2000" b="1" dirty="0">
                <a:latin typeface="Times New Roman" panose="02020603050405020304" pitchFamily="18" charset="0"/>
                <a:cs typeface="Times New Roman" panose="02020603050405020304" pitchFamily="18" charset="0"/>
              </a:rPr>
              <a:t>Regional Planning</a:t>
            </a:r>
            <a:r>
              <a:rPr lang="en-IN" sz="2000" dirty="0">
                <a:latin typeface="Times New Roman" panose="02020603050405020304" pitchFamily="18" charset="0"/>
                <a:cs typeface="Times New Roman" panose="02020603050405020304" pitchFamily="18" charset="0"/>
              </a:rPr>
              <a:t> – Extend the analysis to more regions and historical years for broader agricultural insights. </a:t>
            </a:r>
          </a:p>
          <a:p>
            <a:pPr lvl="0" algn="just"/>
            <a:r>
              <a:rPr lang="en-IN" sz="2000" b="1" dirty="0">
                <a:latin typeface="Times New Roman" panose="02020603050405020304" pitchFamily="18" charset="0"/>
                <a:cs typeface="Times New Roman" panose="02020603050405020304" pitchFamily="18" charset="0"/>
              </a:rPr>
              <a:t>Interactive Dashboard</a:t>
            </a:r>
            <a:r>
              <a:rPr lang="en-IN" sz="2000" dirty="0">
                <a:latin typeface="Times New Roman" panose="02020603050405020304" pitchFamily="18" charset="0"/>
                <a:cs typeface="Times New Roman" panose="02020603050405020304" pitchFamily="18" charset="0"/>
              </a:rPr>
              <a:t> – Build a dashboard using tools such as Power BI or Tableau for easier decision-making.</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964795" y="1152093"/>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0DD34DB-F3EA-D59A-3AF9-F780CE02BC5F}"/>
              </a:ext>
            </a:extLst>
          </p:cNvPr>
          <p:cNvSpPr txBox="1"/>
          <p:nvPr/>
        </p:nvSpPr>
        <p:spPr>
          <a:xfrm>
            <a:off x="964795" y="2461444"/>
            <a:ext cx="8291173" cy="707886"/>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https://github.com/Aditya79RN/VIOS---Major-Project---</a:t>
            </a:r>
            <a:r>
              <a:rPr lang="en-IN" sz="2000" dirty="0">
                <a:latin typeface="Times New Roman" panose="02020603050405020304" pitchFamily="18" charset="0"/>
                <a:cs typeface="Times New Roman" panose="02020603050405020304" pitchFamily="18" charset="0"/>
              </a:rPr>
              <a:t>Seasonal-Agriculture-Performance-Analysis</a:t>
            </a:r>
            <a:r>
              <a:rPr lang="en-IN" dirty="0">
                <a:latin typeface="Times New Roman" panose="02020603050405020304" pitchFamily="18" charset="0"/>
                <a:cs typeface="Times New Roman" panose="02020603050405020304" pitchFamily="18" charset="0"/>
              </a:rPr>
              <a:t>.git</a:t>
            </a:r>
          </a:p>
        </p:txBody>
      </p:sp>
      <p:sp>
        <p:nvSpPr>
          <p:cNvPr id="3" name="TextBox 2">
            <a:extLst>
              <a:ext uri="{FF2B5EF4-FFF2-40B4-BE49-F238E27FC236}">
                <a16:creationId xmlns:a16="http://schemas.microsoft.com/office/drawing/2014/main" id="{8D26CF69-F671-A8D0-1F7B-68E2283EDD58}"/>
              </a:ext>
            </a:extLst>
          </p:cNvPr>
          <p:cNvSpPr txBox="1"/>
          <p:nvPr/>
        </p:nvSpPr>
        <p:spPr>
          <a:xfrm>
            <a:off x="964795" y="3643601"/>
            <a:ext cx="7320789" cy="1600438"/>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Google </a:t>
            </a:r>
            <a:r>
              <a:rPr lang="en-IN" sz="4000" dirty="0" err="1">
                <a:latin typeface="Times New Roman" panose="02020603050405020304" pitchFamily="18" charset="0"/>
                <a:cs typeface="Times New Roman" panose="02020603050405020304" pitchFamily="18" charset="0"/>
              </a:rPr>
              <a:t>Colab</a:t>
            </a:r>
            <a:r>
              <a:rPr lang="en-IN" sz="4000" dirty="0">
                <a:latin typeface="Times New Roman" panose="02020603050405020304" pitchFamily="18" charset="0"/>
                <a:cs typeface="Times New Roman" panose="02020603050405020304" pitchFamily="18" charset="0"/>
              </a:rPr>
              <a:t> Link</a:t>
            </a:r>
            <a:br>
              <a:rPr lang="en-IN" dirty="0"/>
            </a:br>
            <a:br>
              <a:rPr lang="en-IN" dirty="0"/>
            </a:br>
            <a:r>
              <a:rPr lang="en-IN" sz="2000" dirty="0">
                <a:latin typeface="Times New Roman" panose="02020603050405020304" pitchFamily="18" charset="0"/>
                <a:cs typeface="Times New Roman" panose="02020603050405020304" pitchFamily="18" charset="0"/>
              </a:rPr>
              <a:t>https://colab.research.google.com/drive/1eonGAJrgs9QIVmJWumDx9n3jnfekroCH?usp=sharing</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293901"/>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592B6CC-4894-69DE-A581-AC51976AAA90}"/>
              </a:ext>
            </a:extLst>
          </p:cNvPr>
          <p:cNvPicPr>
            <a:picLocks noChangeAspect="1"/>
          </p:cNvPicPr>
          <p:nvPr/>
        </p:nvPicPr>
        <p:blipFill>
          <a:blip r:embed="rId3"/>
          <a:srcRect l="1268" t="919" r="694" b="299"/>
          <a:stretch>
            <a:fillRect/>
          </a:stretch>
        </p:blipFill>
        <p:spPr>
          <a:xfrm>
            <a:off x="753408" y="1275371"/>
            <a:ext cx="7184571" cy="510032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337124" y="2145561"/>
            <a:ext cx="4898571" cy="2141694"/>
          </a:xfrm>
          <a:prstGeom prst="rect">
            <a:avLst/>
          </a:prstGeom>
        </p:spPr>
        <p:txBody>
          <a:bodyPr anchor="ctr">
            <a:normAutofit/>
          </a:bodyPr>
          <a:lstStyle/>
          <a:p>
            <a:pPr algn="ctr"/>
            <a:r>
              <a:rPr lang="en-US" sz="7200" b="1" i="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596</TotalTime>
  <Words>673</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RN Aditya</cp:lastModifiedBy>
  <cp:revision>126</cp:revision>
  <dcterms:created xsi:type="dcterms:W3CDTF">2021-07-11T13:13:15Z</dcterms:created>
  <dcterms:modified xsi:type="dcterms:W3CDTF">2026-09-09T16:28:36Z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